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417320"/>
            <a:ext cx="384048" cy="384048"/>
          </a:xfrm>
          <a:prstGeom prst="rect">
            <a:avLst/>
          </a:prstGeom>
          <a:ln w="20320">
            <a:solidFill>
              <a:srgbClr val="8A4A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8944" y="1547896"/>
            <a:ext cx="122895" cy="122895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96596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500" kern="0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KAIRÓS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12724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0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KPI intelligence-to-action engine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E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detects a material metric movement, decomposes it exactly, grades every explanation against a standard of proof, and recommends an action with a named owner — or refuses, and prices the experiment that would settle it.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Kairós</a:t>
            </a:r>
            <a:pPr indent="0" marL="0">
              <a:buNone/>
            </a:pPr>
            <a:r>
              <a:rPr lang="en-US" sz="1250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opportune moment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Accenture Innovation Challenge 2026  ·  Round 2  ·  BusinessIntelligence.ai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is solved. Explanation is not.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failures keep the translation manual — and they cost days, not minutes.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can say North revenue fell 18.8%. It cannot say the fall is three enterprise accounts that stopped reordering after a warehouse missed its dispatch SLA ten days earlier — because that sentence lives in service tickets, call transcripts and a dispatch log no BI tool reads.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2843784"/>
            <a:ext cx="182880" cy="182880"/>
          </a:xfrm>
          <a:prstGeom prst="rect">
            <a:avLst/>
          </a:prstGeom>
          <a:ln w="20320">
            <a:solidFill>
              <a:srgbClr val="8A4A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0547" y="2905963"/>
            <a:ext cx="58522" cy="5852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42416" y="2788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blindness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13048" y="27706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tools alert on deviation, not consequence. Flag everything and leaders mute you.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3685032"/>
            <a:ext cx="182880" cy="182880"/>
          </a:xfrm>
          <a:prstGeom prst="rect">
            <a:avLst/>
          </a:prstGeom>
          <a:ln w="20320">
            <a:solidFill>
              <a:srgbClr val="8A4A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0547" y="3747211"/>
            <a:ext cx="58522" cy="5852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2416" y="3630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theatre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36118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“Insight” features surface what moved alongside a metric. A leader cannot act on that.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526280"/>
            <a:ext cx="182880" cy="182880"/>
          </a:xfrm>
          <a:prstGeom prst="rect">
            <a:avLst/>
          </a:prstGeom>
          <a:ln w="20320">
            <a:solidFill>
              <a:srgbClr val="8A4A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0547" y="4588459"/>
            <a:ext cx="58522" cy="5852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2416" y="4471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Organisational amnesia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44531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solved this pattern fourteen months ago. That memory sits in a dead slide.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32520" y="1783080"/>
            <a:ext cx="2788920" cy="3566160"/>
          </a:xfrm>
          <a:prstGeom prst="rect">
            <a:avLst/>
          </a:prstGeom>
          <a:solidFill>
            <a:srgbClr val="E3E0D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06840" y="212140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A3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31272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for an analyst to translate a movement into a cause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4041648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 is decision latency, not data latency. Pipelines refresh hourly; the explanation refreshes weekly.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IS STILL OPEN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$1.1B automated the search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built the standard of proof, the evidence outside the warehouse, or the memory.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830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adjacent categories — BI copilots, warehouse-native analysts, driver attribution, causal decision intelligence — each solved a different third. None ships the standard of proof, the evidence outside the warehouse, or the memory of what worked.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9718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binding obstacle is elsewhere again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3375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Olszak &amp; Bartuś (Procedia Computer Science 270, 2025) interviewed twenty organisations across three sectors. Data quality was the only barrier every single respondent named.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783080"/>
          <a:ext cx="4800600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BARRIER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 20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availability and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8A3A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Integrating diverse 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implementation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Shortage of specialists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with existing BI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and regulation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720840" y="4434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KAIRÓS treats that ranking as an instruction: a data fitness gate runs first and may halt the run.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ENGINE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stages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defined as much by what it refuses to do as by what it computes.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55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167128" y="1755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definition?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910328" y="17556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Compute a KPI two systems define differently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20665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12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67128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to reason over?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10328" y="22128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Analyse an estate that fails the gate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25237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670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67128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ground moved?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910328" y="26700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Trust a ranker outside its training support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29809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SIFT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167128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and material?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910328" y="31272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Wake anyone for an immaterial move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34381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584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167128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exactly?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910328" y="35844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Leave a residual — the identity closes to under ₹1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38953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041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167128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Why, and how sure?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910328" y="40416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Award L3 when the placebo test fails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" y="43525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4988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PROPAGATE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167128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loss created?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910328" y="44988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Measure a cause in its effect’s window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" y="48097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49560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167128" y="4956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nobody acts?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910328" y="49560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Voice an extrapolation as a counterfactual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8368" y="52669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8368" y="5413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167128" y="5413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we do?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4910328" y="54132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Emit an action whose lever isn’t in the contract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58368" y="57241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" y="5870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3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NARRATE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2167128" y="5870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say it?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910328" y="58704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 Publish a number absent from the evidence packet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STANDARD OF PROOF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Ladder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below L2 is ever phrased as a cause.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Bradford Hill’s viewpoints (1965) operationalised on Pearl’s causal hierarchy (CACM 2019).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566928" cy="713232"/>
          </a:xfrm>
          <a:prstGeom prst="rect">
            <a:avLst/>
          </a:prstGeom>
          <a:solidFill>
            <a:srgbClr val="C9C5B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21762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1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0482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Co-movement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32257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series moved together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21762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“moved alongside”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" y="2834640"/>
            <a:ext cx="566928" cy="71323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01752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2889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 + gradient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31638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preceded effect within the graph’s declared lag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301752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“associated with”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3675888"/>
            <a:ext cx="566928" cy="71323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85876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730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corroboration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400507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not sharing a pipeline agree, conflict under 40%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3858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“likely cause”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517136"/>
            <a:ext cx="566928" cy="713232"/>
          </a:xfrm>
          <a:prstGeom prst="rect">
            <a:avLst/>
          </a:prstGeom>
          <a:solidFill>
            <a:srgbClr val="2F5D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47000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35608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48463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difference-in-differences against a real untreated cohort, placebo must validate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36208" y="47000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5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“quantified at −20.6%, p&lt;0.0001”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is measured, not assumed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5715000"/>
          <a:ext cx="1084478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554480"/>
                <a:gridCol w="1097280"/>
                <a:gridCol w="471830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ON-THEME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CONFLICTING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RATIO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VERDICT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Dispatch SLA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F5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corroborated → L3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increase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8A3A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contested — rung suppressed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ARCHITECTURAL COMMITMENT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proposes. It never computes.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a direct read of where language models actually fail.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5669280" cy="1371600"/>
          </a:xfrm>
          <a:prstGeom prst="rect">
            <a:avLst/>
          </a:prstGeom>
          <a:solidFill>
            <a:srgbClr val="E3E0D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19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are strong at proposing causal explanations from world knowledge and near-random at inferring causation from correlation.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2918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Kıcıman et al. (TMLR 2024) found LLMs beat existing algorithms on knowledge-based causal tasks. Corr2Cause (ICLR 2024) tested seventeen models on inferring causation from correlation and found them near random. Both are true — the architecture is a read of where the split falls.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572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runtime, not asserted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91032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evidence packet — no tools, no data access, so it cannot compute.
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 guard — every figure parsed and matched against that packet. An unverifiable number fails the narrative.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1783080"/>
            <a:ext cx="4663440" cy="3886200"/>
          </a:xfrm>
          <a:prstGeom prst="rect">
            <a:avLst/>
          </a:prstGeom>
          <a:solidFill>
            <a:srgbClr val="F2F0EC"/>
          </a:solidFill>
          <a:ln w="8890">
            <a:solidFill>
              <a:srgbClr val="C9C5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F5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91–100%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880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reasoning steps are non-LLM, measured on a live run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5295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352958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91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104120" y="3579876"/>
            <a:ext cx="1143000" cy="11887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0" y="37947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37947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91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04120" y="3845052"/>
            <a:ext cx="408214" cy="11887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32320" y="40599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40599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91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104120" y="4110228"/>
            <a:ext cx="163286" cy="11887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0" y="43251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43251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91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04120" y="4375404"/>
            <a:ext cx="163286" cy="11887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32320" y="45902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45902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91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104120" y="4640580"/>
            <a:ext cx="122464" cy="11887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0" y="48554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418320" y="48554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91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104120" y="4905756"/>
            <a:ext cx="81643" cy="11887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0" y="51206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418320" y="51206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91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104120" y="5170932"/>
            <a:ext cx="81643" cy="118872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0" y="53858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3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418320" y="538581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3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104120" y="5436108"/>
            <a:ext cx="54864" cy="118872"/>
          </a:xfrm>
          <a:prstGeom prst="rect">
            <a:avLst/>
          </a:prstGeom>
          <a:solidFill>
            <a:srgbClr val="8A3A3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0" y="5504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declares its method and why that method was chosen.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PROTOTYPE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cases, ground truth planted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engine is scored against what was buried, not admired for what it says.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44784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286000"/>
                <a:gridCol w="5486400"/>
                <a:gridCol w="256946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WHAT WAS PLANTED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VERDICT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4A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revenue −18.8%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WH-3 dispatch SLA collapse → three named accounts cut reorder cadence at a 10-day lag, plus a tier-mix shift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CONFIRMED · L3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4A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volume −8.9%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competitor promotion and our own price rise — same day, same channel, no clean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6A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COMPETING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4A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category, 19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short a series to fit seasonality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653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INSUFFICIENT HISTORY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4A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WH-4 delivery “improves”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Late-shipment rows silently stopped 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3A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 QUALITY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A4A3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modern trade −18.9%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 promotion hitting one channel only — the others are an untreated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5D4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CONFIRMED · L3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" y="4892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and S6 are deliberate mirrors: the same class of cause, one confounded by design and one clean. The pair is what makes the abstention in S2 read as judgement rather than weakness.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477316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9829800" y="48463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assert these against the ground-truth file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Entitlements bind the data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human–AI mode on each recommendation is derived, not configured.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556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before anything reaches a prompt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084832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PERSONA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SEES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regions; no CRM verbatims. Reaches L3 on the counterfactual; 23 items withheld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RSM North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= North. A West query is refused before any SQL runs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rupee column at all — the packet holds no currency figure anywhere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method detail and lineage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46520" y="17556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Human–AI mode is derived, not configured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084832"/>
          <a:ext cx="50749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RECOMMENDATION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Counter-promotion, ₹0.7 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F5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AI-led, human approves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credit, ₹44.6 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6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Human-led — exceeds the RSM’s ₹25 L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correction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6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Human-led — hard to reverse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abstention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653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only, AI abstains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C8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AI-delegated: reserved, never assigned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58368" y="4892040"/>
            <a:ext cx="10844784" cy="868680"/>
          </a:xfrm>
          <a:prstGeom prst="rect">
            <a:avLst/>
          </a:prstGeom>
          <a:solidFill>
            <a:srgbClr val="E3E0D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14400" y="50474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lever is externally visible to a customer, moves money, or both. Full machine delegation is left empty on purpose — which makes EU AI Act Art. 14 human oversight an inspectable property of each recommendation rather than a policy sentence.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CASE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Collapsing the distance to action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prototype, not projected.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615184" cy="1133856"/>
          </a:xfrm>
          <a:prstGeom prst="rect">
            <a:avLst/>
          </a:prstGeom>
          <a:solidFill>
            <a:srgbClr val="F2F0EC"/>
          </a:solidFill>
          <a:ln w="8890">
            <a:solidFill>
              <a:srgbClr val="C9C5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83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≈450 ms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end, offline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755648"/>
            <a:ext cx="2615184" cy="1133856"/>
          </a:xfrm>
          <a:prstGeom prst="rect">
            <a:avLst/>
          </a:prstGeom>
          <a:solidFill>
            <a:srgbClr val="F2F0EC"/>
          </a:solidFill>
          <a:ln w="8890">
            <a:solidFill>
              <a:srgbClr val="C9C5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02736" y="1883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≈80 ms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run, cache hit — zero tokens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755648"/>
            <a:ext cx="2615184" cy="1133856"/>
          </a:xfrm>
          <a:prstGeom prst="rect">
            <a:avLst/>
          </a:prstGeom>
          <a:solidFill>
            <a:srgbClr val="F2F0EC"/>
          </a:solidFill>
          <a:ln w="8890">
            <a:solidFill>
              <a:srgbClr val="C9C5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1883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₹0.30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insight, one model 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87968" y="1755648"/>
            <a:ext cx="2615184" cy="1133856"/>
          </a:xfrm>
          <a:prstGeom prst="rect">
            <a:avLst/>
          </a:prstGeom>
          <a:solidFill>
            <a:srgbClr val="F2F0EC"/>
          </a:solidFill>
          <a:ln w="8890">
            <a:solidFill>
              <a:srgbClr val="C9C5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89136" y="1883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4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1.9–3.2 ms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089136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queries at 4.5M rows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090672"/>
          <a:ext cx="1084478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4626864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LEVER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MECHANISM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BASIS IN THE PROTOTYPE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Recovered leakage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Acting in week 1 rather than week 2 on service-driven churn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₹2.15 Cr movement, 87.6% attributable, playbook recovery 71% 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“Why did X move” fire-drills automated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incident is 2–4 analyst days 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Avoided wrong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Abstention prevents intervening on the wrong cause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S2: two rivals both at L1 — a confident engine would have picked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Compounding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sizes re-estimated from realised 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 accuracy improves with each closed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58368" y="5349240"/>
            <a:ext cx="10844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measured on diagnosis precision, decision latency and recommendation calibration — deliberately not on insight volume, which is the metric that manufactures alert fatigue.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gates the rollout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expands only after analyst-graded precision clears the bar.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475488" cy="475488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8745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precision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0391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0–3 mo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315968" y="17647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P&amp;L metric, one function. SEMANTIC + FITNESS + SIFT + SPLIT on the existing semantic layer. Narratives reviewed, never auto-published.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070848" y="1837944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Analyst-graded precision clears an agreed bar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770632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16936"/>
            <a:ext cx="475488" cy="475488"/>
          </a:xfrm>
          <a:prstGeom prst="rect">
            <a:avLst/>
          </a:prstGeom>
          <a:solidFill>
            <a:srgbClr val="E3E0D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00837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B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44168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evidence and memory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31729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3–6 mo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289864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unstructured sources with entitlements and redaction. Seed playbooks from past incidents. Enable the ladder and abstention.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070848" y="297180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≥60% of material movements reach L2+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3904488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050792"/>
            <a:ext cx="475488" cy="475488"/>
          </a:xfrm>
          <a:prstGeom prst="rect">
            <a:avLst/>
          </a:prstGeom>
          <a:solidFill>
            <a:srgbClr val="E3E0D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41422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B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44168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44168" y="4306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6–12 mo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315968" y="403250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Multi-KPI, multi-persona, outcome logging, the ranker trained on the client’s resolved episodes. Recommendations remain proposed.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070848" y="4105656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Recommendation calibration measurable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5038344"/>
            <a:ext cx="10844784" cy="0"/>
          </a:xfrm>
          <a:prstGeom prst="line">
            <a:avLst/>
          </a:prstGeom>
          <a:noFill/>
          <a:ln w="6350">
            <a:solidFill>
              <a:srgbClr val="C9C5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5184648"/>
            <a:ext cx="475488" cy="475488"/>
          </a:xfrm>
          <a:prstGeom prst="rect">
            <a:avLst/>
          </a:prstGeom>
          <a:solidFill>
            <a:srgbClr val="E3E0D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527608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B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344168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44168" y="5440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mo+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315968" y="5166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B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Industry-tuned graph and playbook packs as a delivery accelerator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070848" y="5239512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 Reuse across engagements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10844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21792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100" b="1" dirty="0">
                <a:solidFill>
                  <a:srgbClr val="19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and what absorbs it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70432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mitigation is built in, not bolted on.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83080"/>
          <a:ext cx="1084478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19302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7C837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MITIGATION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but wrong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evidence floor; explicit Unknown state; mandatory citation; the numeric guard rejects unverifiable figures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Spurious causes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causal graph blocks inadmissible mechanisms; the placebo must validate before L3 is awarded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data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fitness gate runs first across five dimensions and may halt the run; class-level completeness catches a load that drops one kind of row while totals 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ground moves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monitored separately for data and model; a ranker scoring outside its training support has its authority withdrawn for that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Over-trust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Rival hypotheses shown by default; actions stay proposed; full machine delegation reserved and never assigned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Row, column and domain entitlements applied to data before prompt assembly; PII redacted pre-retrieval; withheld items surfaced as a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12 post-hoc reconstruction satisfied by full lineage; Art. 14 oversight by never auto-executing; India’s DPDP makes purpose limitation a design constraint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commoditisation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1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deliberately do not rebuild text-to-SQL or the semantic layer — now free platform features. The moat is proof, evidence and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5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58368" y="6327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KAIRÓS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954512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3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371600"/>
            <a:ext cx="310896" cy="310896"/>
          </a:xfrm>
          <a:prstGeom prst="rect">
            <a:avLst/>
          </a:prstGeom>
          <a:ln w="20320">
            <a:solidFill>
              <a:srgbClr val="8A4A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4073" y="1477305"/>
            <a:ext cx="99487" cy="99487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prototype proves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76656" y="2834640"/>
            <a:ext cx="91440" cy="91440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7432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0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the buried service failure at L3 — DiD −20.6%, p&lt;0.0001, placebo clean — and rediscovered the 10-day mechanism lag independently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6656" y="3346704"/>
            <a:ext cx="91440" cy="91440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87552" y="325526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0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abstained where two explanations were confounded by design, and priced a ₹1.8 L, 14-day separating test instead of guessing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" y="3858768"/>
            <a:ext cx="91440" cy="91440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7552" y="37673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0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blamed the pipeline, not the business, when late-shipment rows stopped loading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6656" y="4370832"/>
            <a:ext cx="91440" cy="91440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42793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0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two competing definitions of net revenue and reported the gap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" y="4882896"/>
            <a:ext cx="91440" cy="91440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479145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0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withdrew its own learned ranker’s authority when inputs fell outside its training support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" y="5394960"/>
            <a:ext cx="91440" cy="91440"/>
          </a:xfrm>
          <a:prstGeom prst="rect">
            <a:avLst/>
          </a:prstGeom>
          <a:solidFill>
            <a:srgbClr val="8A4A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53035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0A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its own hallucination — an injected ₹4.2 Cr figure failed the guard and the deterministic narrative was published instead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5349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github.com/aswanthiitm/kairos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5669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 tests · 4 sources · 5 KPIs · 10 stages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Accenture Innovation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KAIROS - Business Proposal</dc:title>
  <dc:subject>PptxGenJS Presentation</dc:subject>
  <dc:creator>KAIROS</dc:creator>
  <cp:lastModifiedBy>KAIROS</cp:lastModifiedBy>
  <cp:revision>1</cp:revision>
  <dcterms:created xsi:type="dcterms:W3CDTF">2026-09-02T14:58:03Z</dcterms:created>
  <dcterms:modified xsi:type="dcterms:W3CDTF">2026-09-02T14:58:03Z</dcterms:modified>
</cp:coreProperties>
</file>